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2" r:id="rId4"/>
  </p:sldMasterIdLst>
  <p:notesMasterIdLst>
    <p:notesMasterId r:id="rId24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146847059" r:id="rId11"/>
    <p:sldId id="2146847061" r:id="rId12"/>
    <p:sldId id="2146847062" r:id="rId13"/>
    <p:sldId id="2146847063" r:id="rId14"/>
    <p:sldId id="2146847064" r:id="rId15"/>
    <p:sldId id="2146847065" r:id="rId16"/>
    <p:sldId id="2146847066" r:id="rId17"/>
    <p:sldId id="2146847067" r:id="rId18"/>
    <p:sldId id="269" r:id="rId19"/>
    <p:sldId id="2146847055" r:id="rId20"/>
    <p:sldId id="268" r:id="rId21"/>
    <p:sldId id="259" r:id="rId22"/>
    <p:sldId id="2146847058" r:id="rId23"/>
  </p:sldIdLst>
  <p:sldSz cx="12192000" cy="6858000"/>
  <p:notesSz cx="6858000" cy="9144000"/>
  <p:embeddedFontLst>
    <p:embeddedFont>
      <p:font typeface="Franklin Gothic Book" panose="020B0503020102020204" pitchFamily="34" charset="0"/>
      <p:regular r:id="rId25"/>
      <p:italic r:id="rId26"/>
    </p:embeddedFont>
    <p:embeddedFont>
      <p:font typeface="Franklin Gothic Demi" panose="020B0703020102020204" pitchFamily="34" charset="0"/>
      <p:regular r:id="rId27"/>
      <p:italic r:id="rId28"/>
    </p:embeddedFont>
    <p:embeddedFont>
      <p:font typeface="Wingdings 2" panose="05020102010507070707" pitchFamily="18" charset="2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A9DC4A-4E99-44AD-9D54-A46583FCAA6B}" v="4" dt="2026-01-11T17:32:36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cturemindai-najuzbv6topc4zgedyafxh.streamlit.app/" TargetMode="External"/><Relationship Id="rId2" Type="http://schemas.openxmlformats.org/officeDocument/2006/relationships/hyperlink" Target="https://github.com/the-introvert20/LectureMind.AI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073" y="958980"/>
            <a:ext cx="10067853" cy="1728101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LectureMind</a:t>
            </a:r>
            <a:r>
              <a:rPr lang="en-US" b="1" dirty="0"/>
              <a:t> AI — AI-powered Learning Companion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10142" y="3599301"/>
            <a:ext cx="10067854" cy="17281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Presented By: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UTTAM RAWAT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THDC-IHET ,TEHRI , UTTARAKHAND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B. Tech CSE (Ongoing 2023-2027).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913" y="1869459"/>
            <a:ext cx="11478307" cy="47902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02" y="70733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Students struggle to convert long lecture audio into structured study material.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Manual note-taking is time-consuming and error-prone.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Existing tools are : Cloud-dependent.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Costly (paid APIs)Limited to transcription only.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Lack of interactive learning from lecture content.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No unified system for notes, flashcards, quizzes, and Q&amp;A.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>
              <a:lnSpc>
                <a:spcPct val="200000"/>
              </a:lnSpc>
            </a:pPr>
            <a:r>
              <a:rPr lang="en-US" sz="2400" b="1" dirty="0"/>
              <a:t>End-to-end local-first web application powered by AI</a:t>
            </a:r>
          </a:p>
          <a:p>
            <a:pPr marL="305435" indent="-305435">
              <a:lnSpc>
                <a:spcPct val="200000"/>
              </a:lnSpc>
            </a:pPr>
            <a:r>
              <a:rPr lang="en-US" sz="2400" b="1" dirty="0"/>
              <a:t>Automatic transcription, cleaning, and structured content generation</a:t>
            </a:r>
          </a:p>
          <a:p>
            <a:pPr marL="305435" indent="-305435">
              <a:lnSpc>
                <a:spcPct val="200000"/>
              </a:lnSpc>
            </a:pPr>
            <a:r>
              <a:rPr lang="en-US" sz="2400" b="1" dirty="0"/>
              <a:t>RAG-based chatbot for intelligent Q&amp;A with lectures</a:t>
            </a:r>
          </a:p>
          <a:p>
            <a:pPr marL="305435" indent="-305435">
              <a:lnSpc>
                <a:spcPct val="200000"/>
              </a:lnSpc>
            </a:pPr>
            <a:r>
              <a:rPr lang="en-US" sz="2400" b="1" dirty="0"/>
              <a:t>No paid API required — fully open-source and self-hosted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 DEVELOPMENT</a:t>
            </a:r>
            <a:r>
              <a:rPr lang="en-US" sz="4400" b="1" dirty="0">
                <a:latin typeface="Arial"/>
                <a:ea typeface="+mn-lt"/>
                <a:cs typeface="+mn-lt"/>
              </a:rPr>
              <a:t> </a:t>
            </a:r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188225"/>
            <a:ext cx="10137197" cy="3999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Modular architecture: separate concerns (transcription, cleaning, generation, RAG)</a:t>
            </a:r>
          </a:p>
          <a:p>
            <a:pPr algn="just">
              <a:lnSpc>
                <a:spcPct val="200000"/>
              </a:lnSpc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for UI — rapid prototyping and user-friendly dashboard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Local vector database (FAISS) for efficient retrieval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Fallback heuristics for LLM functions when API unavailable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1" y="1396705"/>
            <a:ext cx="10792441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SzPct val="100000"/>
            </a:pPr>
            <a:r>
              <a:rPr lang="en-US" sz="20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Whisper STT:</a:t>
            </a:r>
            <a:r>
              <a:rPr lang="en-US" sz="2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Convert audio to raw transcript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SzPct val="100000"/>
            </a:pPr>
            <a:r>
              <a:rPr lang="en-US" sz="20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 Cleaning:</a:t>
            </a:r>
            <a:r>
              <a:rPr lang="en-US" sz="2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Remove fillers, fix punctuation, split paragraphs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SzPct val="100000"/>
            </a:pPr>
            <a:r>
              <a:rPr lang="en-US" sz="20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Generation:</a:t>
            </a:r>
            <a:r>
              <a:rPr lang="en-US" sz="20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Notes, flashcards, quizzes via LLM or heuristic</a:t>
            </a:r>
            <a:endParaRPr lang="en-US" sz="20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028E-B033-C97B-23AF-A04C8818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0DBC-A08F-63BB-E7F2-92A0AD805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50000"/>
              </a:lnSpc>
              <a:buSzPct val="100000"/>
            </a:pPr>
            <a:r>
              <a:rPr lang="en-US" sz="2400" b="1" dirty="0">
                <a:solidFill>
                  <a:srgbClr val="38BDF8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 &amp; Indexing:</a:t>
            </a:r>
            <a:r>
              <a:rPr lang="en-US" sz="2400" b="1" dirty="0">
                <a:solidFill>
                  <a:srgbClr val="CBD5E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SentenceTransformers</a:t>
            </a: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+ FAISS vector store</a:t>
            </a:r>
            <a:endParaRPr lang="en-US" sz="24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algn="just">
              <a:lnSpc>
                <a:spcPct val="250000"/>
              </a:lnSpc>
              <a:buSzPct val="100000"/>
            </a:pPr>
            <a:r>
              <a:rPr lang="en-US" sz="2400" b="1" dirty="0">
                <a:solidFill>
                  <a:srgbClr val="38BDF8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Chat:</a:t>
            </a:r>
            <a:r>
              <a:rPr lang="en-US" sz="2400" b="1" dirty="0">
                <a:solidFill>
                  <a:srgbClr val="CBD5E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Retrieve chunks → Generate contextual answers</a:t>
            </a:r>
            <a:endParaRPr lang="en-US" sz="24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algn="just">
              <a:lnSpc>
                <a:spcPct val="250000"/>
              </a:lnSpc>
              <a:buSzPct val="100000"/>
            </a:pPr>
            <a:r>
              <a:rPr lang="en-US" sz="2400" b="1" dirty="0">
                <a:solidFill>
                  <a:srgbClr val="38BDF8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Deployment:</a:t>
            </a:r>
            <a:r>
              <a:rPr lang="en-US" sz="2400" b="1" dirty="0">
                <a:solidFill>
                  <a:srgbClr val="CBD5E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 via </a:t>
            </a:r>
            <a:r>
              <a:rPr lang="en-US" sz="2400" b="1" dirty="0" err="1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Streamlit</a:t>
            </a: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; no external service required</a:t>
            </a:r>
            <a:endParaRPr lang="en-US" sz="24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0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7056-60E4-D595-E326-5DD75CD1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BDAC0D-6AC9-F59F-1F4D-56EA32FB7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683" r="12665" b="5253"/>
          <a:stretch>
            <a:fillRect/>
          </a:stretch>
        </p:blipFill>
        <p:spPr>
          <a:xfrm>
            <a:off x="275574" y="1254617"/>
            <a:ext cx="10835012" cy="5309021"/>
          </a:xfrm>
        </p:spPr>
      </p:pic>
    </p:spTree>
    <p:extLst>
      <p:ext uri="{BB962C8B-B14F-4D97-AF65-F5344CB8AC3E}">
        <p14:creationId xmlns:p14="http://schemas.microsoft.com/office/powerpoint/2010/main" val="2382647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90EB5-8A10-3101-C970-DBBE7690D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6ABF52-BAB8-A7D7-32EE-411A07AF2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82" r="9101" b="5905"/>
          <a:stretch>
            <a:fillRect/>
          </a:stretch>
        </p:blipFill>
        <p:spPr>
          <a:xfrm>
            <a:off x="1195491" y="1132244"/>
            <a:ext cx="9213637" cy="5625548"/>
          </a:xfrm>
        </p:spPr>
      </p:pic>
    </p:spTree>
    <p:extLst>
      <p:ext uri="{BB962C8B-B14F-4D97-AF65-F5344CB8AC3E}">
        <p14:creationId xmlns:p14="http://schemas.microsoft.com/office/powerpoint/2010/main" val="1490172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A125-6A84-8128-2D97-0DBCB824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AF8C66-35FF-060E-8225-1FA745030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612" r="10229" b="6441"/>
          <a:stretch>
            <a:fillRect/>
          </a:stretch>
        </p:blipFill>
        <p:spPr>
          <a:xfrm>
            <a:off x="1462732" y="1232452"/>
            <a:ext cx="9009027" cy="5556250"/>
          </a:xfrm>
        </p:spPr>
      </p:pic>
    </p:spTree>
    <p:extLst>
      <p:ext uri="{BB962C8B-B14F-4D97-AF65-F5344CB8AC3E}">
        <p14:creationId xmlns:p14="http://schemas.microsoft.com/office/powerpoint/2010/main" val="389871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46BE-9171-973F-338B-FE94BDF3A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FB778-08A0-56D9-3703-D7FC27D16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470517"/>
            <a:ext cx="9572457" cy="5387483"/>
          </a:xfrm>
        </p:spPr>
      </p:pic>
    </p:spTree>
    <p:extLst>
      <p:ext uri="{BB962C8B-B14F-4D97-AF65-F5344CB8AC3E}">
        <p14:creationId xmlns:p14="http://schemas.microsoft.com/office/powerpoint/2010/main" val="3781390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1E46-84A4-5B23-058A-541DB4E4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2E87ED-522D-EFE7-7612-237A48C6B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047" y="1690057"/>
            <a:ext cx="2709332" cy="4673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B409EE-77E9-06D3-AA47-4BC30E0D4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616" y="1979113"/>
            <a:ext cx="4192043" cy="405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9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C424C-4D2B-798B-9026-BD068037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B5B7-06A8-CBE9-247C-F5FB5FCE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B6EA0F-0080-C125-73AD-7F4BFC1B3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926" y="1482244"/>
            <a:ext cx="8583971" cy="5093920"/>
          </a:xfrm>
        </p:spPr>
      </p:pic>
    </p:spTree>
    <p:extLst>
      <p:ext uri="{BB962C8B-B14F-4D97-AF65-F5344CB8AC3E}">
        <p14:creationId xmlns:p14="http://schemas.microsoft.com/office/powerpoint/2010/main" val="1597526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59660-49E7-8A29-7558-DBF35882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4830-9962-5A2D-8E39-E1C32C2D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1916C5-260A-0508-F45F-F4E984DAE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07" y="1119718"/>
            <a:ext cx="6951945" cy="56670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693B7E-2272-C142-07E7-26A79FF1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302"/>
          <a:stretch>
            <a:fillRect/>
          </a:stretch>
        </p:blipFill>
        <p:spPr>
          <a:xfrm>
            <a:off x="6669290" y="1119718"/>
            <a:ext cx="4941518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0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B31B-E9A6-FA2C-FBE4-21A44C9D2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OpenAI Whisper: Speech-to-text models</a:t>
            </a:r>
            <a:endParaRPr lang="en-US" sz="20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FAISS: Efficient similarity search and clustering</a:t>
            </a:r>
            <a:endParaRPr lang="en-US" sz="20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Streamlit</a:t>
            </a:r>
            <a:r>
              <a:rPr lang="en-US" sz="20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: Rapid web application development</a:t>
            </a:r>
            <a:endParaRPr lang="en-US" sz="20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SentenceTransformers</a:t>
            </a:r>
            <a:r>
              <a:rPr lang="en-US" sz="20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: Semantic text embeddings</a:t>
            </a:r>
            <a:endParaRPr lang="en-US" sz="20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LangChain</a:t>
            </a:r>
            <a:r>
              <a:rPr lang="en-US" sz="20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: RAG pipeline inspiration and chunking strategies</a:t>
            </a:r>
            <a:endParaRPr lang="en-US" sz="20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305435" lvl="1" indent="-305435" algn="ctr">
              <a:spcBef>
                <a:spcPts val="0"/>
              </a:spcBef>
              <a:spcAft>
                <a:spcPts val="0"/>
              </a:spcAft>
            </a:pPr>
            <a:endParaRPr lang="en-GB" sz="1400" b="1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299033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D719E72-E0E4-6BA8-4AB3-3ABF652BC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Multilingual transcription and content generation</a:t>
            </a:r>
            <a:endParaRPr lang="en-US" sz="24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speaker </a:t>
            </a:r>
            <a:r>
              <a:rPr lang="en-US" sz="2400" b="1" dirty="0" err="1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diarization</a:t>
            </a: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for multi-speaker lectures</a:t>
            </a:r>
            <a:endParaRPr lang="en-US" sz="24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Collaborative RAG for shared lecture repositories</a:t>
            </a:r>
            <a:endParaRPr lang="en-US" sz="24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app for on-the-go access to study materials</a:t>
            </a:r>
            <a:endParaRPr lang="en-US" sz="24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IN" sz="1800" dirty="0">
              <a:solidFill>
                <a:srgbClr val="0A0A0A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79" y="1482520"/>
            <a:ext cx="11029615" cy="467332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err="1">
                <a:solidFill>
                  <a:srgbClr val="0A0A0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LectureMind</a:t>
            </a:r>
            <a:r>
              <a:rPr lang="en-US" sz="2400" b="1" dirty="0">
                <a:solidFill>
                  <a:srgbClr val="0A0A0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AI democratizes learning by transforming raw lecture content into actionable study materials. With a modular, local-first architecture, it empowers students to learn smarter without infrastructure or cost barriers. The project is production-ready and scalable for classrooms and institutions.</a:t>
            </a:r>
          </a:p>
          <a:p>
            <a:pPr marL="305435" indent="-305435"/>
            <a:endParaRPr lang="en-IN" sz="1400" dirty="0">
              <a:solidFill>
                <a:srgbClr val="0A0A0A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887" y="2363095"/>
            <a:ext cx="929874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Github</a:t>
            </a:r>
            <a:r>
              <a:rPr lang="en-US"/>
              <a:t> link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sz="2400" dirty="0" err="1"/>
              <a:t>Github</a:t>
            </a:r>
            <a:r>
              <a:rPr lang="en-IN" sz="2400" dirty="0"/>
              <a:t> Link : </a:t>
            </a:r>
            <a:r>
              <a:rPr lang="en-IN" sz="2400" dirty="0">
                <a:hlinkClick r:id="rId2"/>
              </a:rPr>
              <a:t>https://github.com/the-introvert20/LectureMind.AI.git</a:t>
            </a:r>
            <a:endParaRPr lang="en-IN" sz="2400" dirty="0"/>
          </a:p>
          <a:p>
            <a:pPr marL="305435" indent="-305435"/>
            <a:r>
              <a:rPr lang="en-IN" sz="2400" dirty="0"/>
              <a:t>Deployment link : </a:t>
            </a:r>
            <a:r>
              <a:rPr lang="en-IN" sz="2400" dirty="0">
                <a:hlinkClick r:id="rId3"/>
              </a:rPr>
              <a:t>https://lecturemindai-najuzbv6topc4zgedyafxh.streamlit.app/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http://schemas.microsoft.com/office/2006/documentManagement/types"/>
    <ds:schemaRef ds:uri="http://schemas.openxmlformats.org/package/2006/metadata/core-properties"/>
    <ds:schemaRef ds:uri="9162bd5b-4ed9-4da3-b376-05204580ba3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145</TotalTime>
  <Words>390</Words>
  <Application>Microsoft Office PowerPoint</Application>
  <PresentationFormat>Widescreen</PresentationFormat>
  <Paragraphs>65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Franklin Gothic Demi</vt:lpstr>
      <vt:lpstr>Franklin Gothic Book</vt:lpstr>
      <vt:lpstr>Calibri</vt:lpstr>
      <vt:lpstr>Arial</vt:lpstr>
      <vt:lpstr>Wingdings 2</vt:lpstr>
      <vt:lpstr>Calibri Light</vt:lpstr>
      <vt:lpstr>DividendVTI</vt:lpstr>
      <vt:lpstr>LectureMind AI — AI-powered Learning Companion </vt:lpstr>
      <vt:lpstr>OUTLINE</vt:lpstr>
      <vt:lpstr>Problem Statement</vt:lpstr>
      <vt:lpstr>Proposed Solution</vt:lpstr>
      <vt:lpstr>System DEVELOPMENT Approach</vt:lpstr>
      <vt:lpstr>Algorithm &amp; Deployment</vt:lpstr>
      <vt:lpstr>Algorithm &amp; Deployment</vt:lpstr>
      <vt:lpstr>RESULTS</vt:lpstr>
      <vt:lpstr>RESULTS</vt:lpstr>
      <vt:lpstr>RESULTS</vt:lpstr>
      <vt:lpstr>RESULTS</vt:lpstr>
      <vt:lpstr>RESULTS</vt:lpstr>
      <vt:lpstr>RESULTS</vt:lpstr>
      <vt:lpstr>RESULTS</vt:lpstr>
      <vt:lpstr>References</vt:lpstr>
      <vt:lpstr>PowerPoint Presentation</vt:lpstr>
      <vt:lpstr>Conclusion</vt:lpstr>
      <vt:lpstr>THANK YOU</vt:lpstr>
      <vt:lpstr>Github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Uttam Rawat</cp:lastModifiedBy>
  <cp:revision>21</cp:revision>
  <dcterms:created xsi:type="dcterms:W3CDTF">2021-05-26T16:50:10Z</dcterms:created>
  <dcterms:modified xsi:type="dcterms:W3CDTF">2026-01-11T17:35:53Z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